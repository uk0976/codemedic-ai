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217920" y="914400"/>
            <a:ext cx="5303520" cy="5029200"/>
          </a:xfrm>
          <a:prstGeom prst="roundRect">
            <a:avLst/>
          </a:prstGeom>
          <a:solidFill>
            <a:srgbClr val="131C31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1097280"/>
            <a:ext cx="3291840" cy="36576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06B6D4"/>
                </a:solidFill>
                <a:latin typeface="Segoe UI"/>
              </a:defRPr>
            </a:pPr>
            <a:r>
              <a:t>⚡ HACKATHON SUBMISSION  •  AI &amp; DEV TOOLS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645920"/>
            <a:ext cx="53035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F8FAFC"/>
                </a:solidFill>
                <a:latin typeface="Segoe UI"/>
              </a:defRPr>
            </a:pPr>
            <a:r>
              <a:t>CodeMedic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2743200"/>
            <a:ext cx="5303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38BDF8"/>
                </a:solidFill>
                <a:latin typeface="Segoe UI"/>
              </a:defRPr>
            </a:pPr>
            <a:r>
              <a:t>Fix. Explain. Optimize. Powered by AI.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3291840"/>
            <a:ext cx="5120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94A3B8"/>
                </a:solidFill>
                <a:latin typeface="Segoe UI"/>
              </a:defRPr>
            </a:pPr>
            <a:r>
              <a:t>The AI-Powered Senior Software Engineer assistant that analyzes, debugs, secures, explains, and refactors developer code in real-time.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572000"/>
            <a:ext cx="2377440" cy="411480"/>
          </a:xfrm>
          <a:prstGeom prst="roundRect">
            <a:avLst/>
          </a:prstGeom>
          <a:solidFill>
            <a:srgbClr val="131C31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8FAFC"/>
                </a:solidFill>
                <a:latin typeface="Segoe UI"/>
              </a:defRPr>
            </a:pPr>
            <a:r>
              <a:t>🔍 Bug Detection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91839" y="4572000"/>
            <a:ext cx="2377440" cy="411480"/>
          </a:xfrm>
          <a:prstGeom prst="roundRect">
            <a:avLst/>
          </a:prstGeom>
          <a:solidFill>
            <a:srgbClr val="131C31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8FAFC"/>
                </a:solidFill>
                <a:latin typeface="Segoe UI"/>
              </a:defRPr>
            </a:pPr>
            <a:r>
              <a:t>🛡️ Security Audit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166360"/>
            <a:ext cx="2377440" cy="411480"/>
          </a:xfrm>
          <a:prstGeom prst="roundRect">
            <a:avLst/>
          </a:prstGeom>
          <a:solidFill>
            <a:srgbClr val="131C31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8FAFC"/>
                </a:solidFill>
                <a:latin typeface="Segoe UI"/>
              </a:defRPr>
            </a:pPr>
            <a:r>
              <a:t>🚀 Performance Fix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91839" y="5166360"/>
            <a:ext cx="2377440" cy="411480"/>
          </a:xfrm>
          <a:prstGeom prst="roundRect">
            <a:avLst/>
          </a:prstGeom>
          <a:solidFill>
            <a:srgbClr val="131C31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8FAFC"/>
                </a:solidFill>
                <a:latin typeface="Segoe UI"/>
              </a:defRPr>
            </a:pPr>
            <a:r>
              <a:t>🧪 Test Auto-Gen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914400"/>
            <a:ext cx="5303520" cy="4572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6400800" y="1051560"/>
            <a:ext cx="164592" cy="164592"/>
          </a:xfrm>
          <a:prstGeom prst="ellipse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6656832" y="1051560"/>
            <a:ext cx="164592" cy="164592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6912864" y="1051560"/>
            <a:ext cx="164592" cy="164592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315200" y="9601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Segoe UI"/>
              </a:defRPr>
            </a:pPr>
            <a:r>
              <a:rPr dirty="0"/>
              <a:t>codemedic_assistant.py — AI Senior Engineer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1371600"/>
            <a:ext cx="4937760" cy="31162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defRPr sz="1050" b="1">
                <a:solidFill>
                  <a:srgbClr val="38BDF8"/>
                </a:solidFill>
                <a:latin typeface="Consolas"/>
              </a:defRPr>
            </a:pPr>
            <a:r>
              <a:rPr dirty="0"/>
              <a:t>class </a:t>
            </a:r>
            <a:r>
              <a:rPr dirty="0" err="1"/>
              <a:t>CodeMedicEngine</a:t>
            </a:r>
            <a:r>
              <a:rPr dirty="0"/>
              <a:t>:</a:t>
            </a:r>
            <a:endParaRPr lang="en-US" dirty="0"/>
          </a:p>
          <a:p>
            <a:pPr>
              <a:defRPr sz="1050" b="1">
                <a:solidFill>
                  <a:srgbClr val="38BDF8"/>
                </a:solidFill>
                <a:latin typeface="Consolas"/>
              </a:defRPr>
            </a:pPr>
            <a:endParaRPr dirty="0"/>
          </a:p>
          <a:p>
            <a:pPr>
              <a:defRPr sz="1050" b="0">
                <a:solidFill>
                  <a:srgbClr val="F8FAFC"/>
                </a:solidFill>
                <a:latin typeface="Consolas"/>
              </a:defRPr>
            </a:pPr>
            <a:r>
              <a:rPr dirty="0"/>
              <a:t>    def </a:t>
            </a:r>
            <a:r>
              <a:rPr dirty="0" err="1"/>
              <a:t>analyze_repository</a:t>
            </a:r>
            <a:r>
              <a:rPr dirty="0"/>
              <a:t>(self, </a:t>
            </a:r>
            <a:r>
              <a:rPr dirty="0" err="1"/>
              <a:t>code_base</a:t>
            </a:r>
            <a:r>
              <a:rPr dirty="0"/>
              <a:t>):</a:t>
            </a:r>
            <a:endParaRPr lang="en-US" dirty="0"/>
          </a:p>
          <a:p>
            <a:pPr>
              <a:defRPr sz="1050" b="0">
                <a:solidFill>
                  <a:srgbClr val="F8FAFC"/>
                </a:solidFill>
                <a:latin typeface="Consolas"/>
              </a:defRPr>
            </a:pPr>
            <a:endParaRPr dirty="0"/>
          </a:p>
          <a:p>
            <a:pPr>
              <a:defRPr sz="1050" b="0">
                <a:solidFill>
                  <a:srgbClr val="64748B"/>
                </a:solidFill>
                <a:latin typeface="Consolas"/>
              </a:defRPr>
            </a:pPr>
            <a:r>
              <a:rPr dirty="0"/>
              <a:t>        # Step 1: Detect Vulnerabilities</a:t>
            </a:r>
            <a:endParaRPr lang="en-US" dirty="0"/>
          </a:p>
          <a:p>
            <a:pPr>
              <a:defRPr sz="1050" b="0">
                <a:solidFill>
                  <a:srgbClr val="64748B"/>
                </a:solidFill>
                <a:latin typeface="Consolas"/>
              </a:defRPr>
            </a:pPr>
            <a:endParaRPr dirty="0"/>
          </a:p>
          <a:p>
            <a:pPr>
              <a:defRPr sz="1050" b="0">
                <a:solidFill>
                  <a:srgbClr val="F87171"/>
                </a:solidFill>
                <a:latin typeface="Consolas"/>
              </a:defRPr>
            </a:pPr>
            <a:r>
              <a:rPr dirty="0"/>
              <a:t>        vulns = </a:t>
            </a:r>
            <a:r>
              <a:rPr dirty="0" err="1"/>
              <a:t>self.security_scanner.scan</a:t>
            </a:r>
            <a:r>
              <a:rPr dirty="0"/>
              <a:t>(</a:t>
            </a:r>
            <a:r>
              <a:rPr dirty="0" err="1"/>
              <a:t>code_base</a:t>
            </a:r>
            <a:r>
              <a:rPr dirty="0"/>
              <a:t>)</a:t>
            </a:r>
            <a:endParaRPr lang="en-US" dirty="0"/>
          </a:p>
          <a:p>
            <a:pPr>
              <a:defRPr sz="1050" b="0">
                <a:solidFill>
                  <a:srgbClr val="F87171"/>
                </a:solidFill>
                <a:latin typeface="Consolas"/>
              </a:defRPr>
            </a:pPr>
            <a:endParaRPr dirty="0"/>
          </a:p>
          <a:p>
            <a:pPr>
              <a:defRPr sz="1050" b="0">
                <a:solidFill>
                  <a:srgbClr val="64748B"/>
                </a:solidFill>
                <a:latin typeface="Consolas"/>
              </a:defRPr>
            </a:pPr>
            <a:r>
              <a:rPr dirty="0"/>
              <a:t>        # Step 2: Auto-Fix &amp; Optimize O(N) Complexity</a:t>
            </a:r>
            <a:endParaRPr lang="en-US" dirty="0"/>
          </a:p>
          <a:p>
            <a:pPr>
              <a:defRPr sz="1050" b="0">
                <a:solidFill>
                  <a:srgbClr val="64748B"/>
                </a:solidFill>
                <a:latin typeface="Consolas"/>
              </a:defRPr>
            </a:pPr>
            <a:endParaRPr dirty="0"/>
          </a:p>
          <a:p>
            <a:pPr>
              <a:defRPr sz="1050" b="0">
                <a:solidFill>
                  <a:srgbClr val="34D399"/>
                </a:solidFill>
                <a:latin typeface="Consolas"/>
              </a:defRPr>
            </a:pPr>
            <a:r>
              <a:rPr dirty="0"/>
              <a:t>        </a:t>
            </a:r>
            <a:r>
              <a:rPr dirty="0" err="1"/>
              <a:t>fixed_code</a:t>
            </a:r>
            <a:r>
              <a:rPr dirty="0"/>
              <a:t> = </a:t>
            </a:r>
            <a:r>
              <a:rPr dirty="0" err="1"/>
              <a:t>self.ai_engine.refactor</a:t>
            </a:r>
            <a:r>
              <a:rPr dirty="0"/>
              <a:t>(</a:t>
            </a:r>
            <a:r>
              <a:rPr dirty="0" err="1"/>
              <a:t>code_base</a:t>
            </a:r>
            <a:r>
              <a:rPr dirty="0"/>
              <a:t>)</a:t>
            </a:r>
            <a:endParaRPr lang="en-US" dirty="0"/>
          </a:p>
          <a:p>
            <a:pPr>
              <a:defRPr sz="1050" b="0">
                <a:solidFill>
                  <a:srgbClr val="34D399"/>
                </a:solidFill>
                <a:latin typeface="Consolas"/>
              </a:defRPr>
            </a:pPr>
            <a:endParaRPr dirty="0"/>
          </a:p>
          <a:p>
            <a:pPr>
              <a:defRPr sz="1050" b="0">
                <a:solidFill>
                  <a:srgbClr val="64748B"/>
                </a:solidFill>
                <a:latin typeface="Consolas"/>
              </a:defRPr>
            </a:pPr>
            <a:r>
              <a:rPr dirty="0"/>
              <a:t>        # Step 3: Auto-Generate Unit Tests</a:t>
            </a:r>
            <a:endParaRPr lang="en-US" dirty="0"/>
          </a:p>
          <a:p>
            <a:pPr>
              <a:defRPr sz="1050" b="0">
                <a:solidFill>
                  <a:srgbClr val="64748B"/>
                </a:solidFill>
                <a:latin typeface="Consolas"/>
              </a:defRPr>
            </a:pPr>
            <a:endParaRPr dirty="0"/>
          </a:p>
          <a:p>
            <a:pPr>
              <a:defRPr sz="1050" b="0">
                <a:solidFill>
                  <a:srgbClr val="7C3AED"/>
                </a:solidFill>
                <a:latin typeface="Consolas"/>
              </a:defRPr>
            </a:pPr>
            <a:r>
              <a:rPr dirty="0"/>
              <a:t>        tests = </a:t>
            </a:r>
            <a:r>
              <a:rPr dirty="0" err="1"/>
              <a:t>self.test_gen.create_suite</a:t>
            </a:r>
            <a:r>
              <a:rPr dirty="0"/>
              <a:t>(</a:t>
            </a:r>
            <a:r>
              <a:rPr dirty="0" err="1"/>
              <a:t>fixed_code</a:t>
            </a:r>
            <a:r>
              <a:rPr dirty="0"/>
              <a:t>)</a:t>
            </a:r>
            <a:endParaRPr lang="en-US" dirty="0"/>
          </a:p>
          <a:p>
            <a:pPr>
              <a:defRPr sz="1050" b="0">
                <a:solidFill>
                  <a:srgbClr val="7C3AED"/>
                </a:solidFill>
                <a:latin typeface="Consolas"/>
              </a:defRPr>
            </a:pPr>
            <a:endParaRPr dirty="0"/>
          </a:p>
          <a:p>
            <a:pPr>
              <a:defRPr sz="1050" b="1">
                <a:solidFill>
                  <a:srgbClr val="06B6D4"/>
                </a:solidFill>
                <a:latin typeface="Consolas"/>
              </a:defRPr>
            </a:pPr>
            <a:r>
              <a:rPr dirty="0"/>
              <a:t>        return </a:t>
            </a:r>
            <a:r>
              <a:rPr dirty="0" err="1"/>
              <a:t>DiagnosticReport</a:t>
            </a:r>
            <a:r>
              <a:rPr dirty="0"/>
              <a:t>(status='HEALTHY', score=99.8)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rPr dirty="0" err="1"/>
              <a:t>CodeMedic</a:t>
            </a:r>
            <a:r>
              <a:rPr dirty="0"/>
              <a:t> AI  |  Hackathon Submission Presentation  •  Slide 1 of 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Segoe UI"/>
              </a:defRPr>
            </a:pPr>
            <a:r>
              <a:t>THE REAL WORLD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6400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Segoe UI"/>
              </a:defRPr>
            </a:pPr>
            <a:r>
              <a:t>Software Engineering Bottlenecks &amp; Friction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2344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Segoe UI"/>
              </a:defRPr>
            </a:pPr>
            <a:r>
              <a:t>Modern developers face overwhelming friction across debugging, security reviews, and maintenance.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120640" cy="2103120"/>
          </a:xfrm>
          <a:prstGeom prst="roundRect">
            <a:avLst/>
          </a:prstGeom>
          <a:solidFill>
            <a:srgbClr val="131C31"/>
          </a:solidFill>
          <a:ln w="1270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47548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87171"/>
                </a:solidFill>
                <a:latin typeface="Segoe UI"/>
              </a:defRPr>
            </a:pPr>
            <a:r>
              <a:t>55%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514600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8FAFC"/>
                </a:solidFill>
                <a:latin typeface="Segoe UI"/>
              </a:defRPr>
            </a:pPr>
            <a:r>
              <a:t>Debugging Time Loss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880360"/>
            <a:ext cx="47548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Developers spend over half their working hours stepping through call stacks, tracking down elusive bugs, and understanding undocumented legacy code bases.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737360"/>
            <a:ext cx="5120640" cy="2103120"/>
          </a:xfrm>
          <a:prstGeom prst="roundRect">
            <a:avLst/>
          </a:prstGeom>
          <a:solidFill>
            <a:srgbClr val="131C31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0" y="1874519"/>
            <a:ext cx="47548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59E0B"/>
                </a:solidFill>
                <a:latin typeface="Segoe UI"/>
              </a:defRPr>
            </a:pPr>
            <a:r>
              <a:t>78%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514600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8FAFC"/>
                </a:solidFill>
                <a:latin typeface="Segoe UI"/>
              </a:defRPr>
            </a:pPr>
            <a:r>
              <a:t>Overlooked Vulns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880360"/>
            <a:ext cx="47548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Security vulnerabilities bypass manual code reviews due to tight release deadlines and lack of dedicated security expertise in sprint teams.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023360"/>
            <a:ext cx="5120640" cy="2103120"/>
          </a:xfrm>
          <a:prstGeom prst="roundRect">
            <a:avLst/>
          </a:prstGeom>
          <a:solidFill>
            <a:srgbClr val="131C31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14400" y="4160520"/>
            <a:ext cx="47548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563EB"/>
                </a:solidFill>
                <a:latin typeface="Segoe UI"/>
              </a:defRPr>
            </a:pPr>
            <a:r>
              <a:t>2-3 Days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800600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8FAFC"/>
                </a:solidFill>
                <a:latin typeface="Segoe UI"/>
              </a:defRPr>
            </a:pPr>
            <a:r>
              <a:t>Code Review Stalls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166360"/>
            <a:ext cx="47548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Pull requests sit idle waiting for senior team members to review logic, resulting in deployment latency and lost engineering momentum.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4023360"/>
            <a:ext cx="5120640" cy="2103120"/>
          </a:xfrm>
          <a:prstGeom prst="roundRect">
            <a:avLst/>
          </a:prstGeom>
          <a:solidFill>
            <a:srgbClr val="131C31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00800" y="4160520"/>
            <a:ext cx="47548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7C3AED"/>
                </a:solidFill>
                <a:latin typeface="Segoe UI"/>
              </a:defRPr>
            </a:pPr>
            <a:r>
              <a:t>40%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4800600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8FAFC"/>
                </a:solidFill>
                <a:latin typeface="Segoe UI"/>
              </a:defRPr>
            </a:pPr>
            <a:r>
              <a:t>Technical Debt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5166360"/>
            <a:ext cx="47548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Inadequate unit test coverage and missing documentation compound code rot over time, making future refactoring high-risk.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CodeMedic AI  |  Hackathon Submission Presentation  •  Slide 2 of 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Segoe UI"/>
              </a:defRPr>
            </a:pPr>
            <a:r>
              <a:t>THE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6400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Segoe UI"/>
              </a:defRPr>
            </a:pPr>
            <a:r>
              <a:t>Introducing CodeMedic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2344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Segoe UI"/>
              </a:defRPr>
            </a:pPr>
            <a:r>
              <a:t>CodeMedic AI transforms developer workflows by acting as an intelligent Senior Engineer co-pilot.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3383280" cy="4389120"/>
          </a:xfrm>
          <a:prstGeom prst="roundRect">
            <a:avLst/>
          </a:prstGeom>
          <a:solidFill>
            <a:srgbClr val="131C31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005840" y="2011680"/>
            <a:ext cx="2011680" cy="3200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2563EB"/>
                </a:solidFill>
                <a:latin typeface="Segoe UI"/>
              </a:defRPr>
            </a:pPr>
            <a:r>
              <a:t>1. INGESTION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468880"/>
            <a:ext cx="2834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8FAFC"/>
                </a:solidFill>
                <a:latin typeface="Segoe UI"/>
              </a:defRPr>
            </a:pPr>
            <a:r>
              <a:t>Seamless Code Capture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291840"/>
            <a:ext cx="28346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Upload entire source files or paste code directly into the built-in Monaco Code Editor with multi-language support.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737360"/>
            <a:ext cx="3383280" cy="4389120"/>
          </a:xfrm>
          <a:prstGeom prst="roundRect">
            <a:avLst/>
          </a:prstGeom>
          <a:solidFill>
            <a:srgbClr val="131C31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4663440" y="2011680"/>
            <a:ext cx="2011680" cy="3200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6B6D4"/>
                </a:solidFill>
                <a:latin typeface="Segoe UI"/>
              </a:defRPr>
            </a:pPr>
            <a:r>
              <a:t>2. AI COGNITION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2468880"/>
            <a:ext cx="2834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8FAFC"/>
                </a:solidFill>
                <a:latin typeface="Segoe UI"/>
              </a:defRPr>
            </a:pPr>
            <a:r>
              <a:t>Senior Engineer Analysis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3291840"/>
            <a:ext cx="28346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Multi-layered LLM evaluation scans for syntax bugs, security flaws, O(N) complexity, and missing tests.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737360"/>
            <a:ext cx="3383280" cy="4389120"/>
          </a:xfrm>
          <a:prstGeom prst="roundRect">
            <a:avLst/>
          </a:prstGeom>
          <a:solidFill>
            <a:srgbClr val="131C31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8321040" y="2011680"/>
            <a:ext cx="2011680" cy="3200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34D399"/>
                </a:solidFill>
                <a:latin typeface="Segoe UI"/>
              </a:defRPr>
            </a:pPr>
            <a:r>
              <a:t>3. ACTIONABLE OUTPUT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2468880"/>
            <a:ext cx="2834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8FAFC"/>
                </a:solidFill>
                <a:latin typeface="Segoe UI"/>
              </a:defRPr>
            </a:pPr>
            <a:r>
              <a:t>One-Click Resolution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3291840"/>
            <a:ext cx="28346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Receive refactored code, instant security patches, comprehensive documentation, and downloadable PDF reports.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CodeMedic AI  |  Hackathon Submission Presentation  •  Slide 3 of 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Segoe UI"/>
              </a:defRPr>
            </a:pPr>
            <a:r>
              <a:t>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6400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Segoe UI"/>
              </a:defRPr>
            </a:pPr>
            <a:r>
              <a:t>High-Performance Modular AI Engine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2344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Segoe UI"/>
              </a:defRPr>
            </a:pPr>
            <a:r>
              <a:t>End-to-end decoupled system architecture optimized for low-latency code processing.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94560"/>
            <a:ext cx="1920240" cy="3474720"/>
          </a:xfrm>
          <a:prstGeom prst="roundRect">
            <a:avLst/>
          </a:prstGeom>
          <a:solidFill>
            <a:srgbClr val="131C31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2377440"/>
            <a:ext cx="1737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2563EB"/>
                </a:solidFill>
                <a:latin typeface="Segoe UI"/>
              </a:defRPr>
            </a:pPr>
            <a:r>
              <a:t>USER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83464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8FAFC"/>
                </a:solidFill>
                <a:latin typeface="Segoe UI"/>
              </a:defRPr>
            </a:pPr>
            <a:r>
              <a:t>Developer / Client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474720"/>
            <a:ext cx="17373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>
                <a:solidFill>
                  <a:srgbClr val="94A3B8"/>
                </a:solidFill>
                <a:latin typeface="Segoe UI"/>
              </a:defRPr>
            </a:pPr>
            <a:r>
              <a:t>Web Dashboard</a:t>
            </a:r>
            <a:br/>
            <a:r>
              <a:t>Monaco Editor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697480" y="3749039"/>
            <a:ext cx="182880" cy="274320"/>
          </a:xfrm>
          <a:prstGeom prst="rightArrow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2926080" y="2194560"/>
            <a:ext cx="1920240" cy="3474720"/>
          </a:xfrm>
          <a:prstGeom prst="roundRect">
            <a:avLst/>
          </a:prstGeom>
          <a:solidFill>
            <a:srgbClr val="131C31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017520" y="2377440"/>
            <a:ext cx="1737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38BDF8"/>
                </a:solidFill>
                <a:latin typeface="Segoe UI"/>
              </a:defRPr>
            </a:pPr>
            <a:r>
              <a:t>FRONTEND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17520" y="283464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8FAFC"/>
                </a:solidFill>
                <a:latin typeface="Segoe UI"/>
              </a:defRPr>
            </a:pPr>
            <a:r>
              <a:t>React 18 + Vite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17520" y="3474720"/>
            <a:ext cx="17373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>
                <a:solidFill>
                  <a:srgbClr val="94A3B8"/>
                </a:solidFill>
                <a:latin typeface="Segoe UI"/>
              </a:defRPr>
            </a:pPr>
            <a:r>
              <a:t>Tailwind CSS</a:t>
            </a:r>
            <a:br/>
            <a:r>
              <a:t>State Management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4892040" y="3749039"/>
            <a:ext cx="182880" cy="274320"/>
          </a:xfrm>
          <a:prstGeom prst="rightArrow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5120640" y="2194560"/>
            <a:ext cx="1920240" cy="3474720"/>
          </a:xfrm>
          <a:prstGeom prst="roundRect">
            <a:avLst/>
          </a:prstGeom>
          <a:solidFill>
            <a:srgbClr val="131C31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212079" y="2377440"/>
            <a:ext cx="1737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6B6D4"/>
                </a:solidFill>
                <a:latin typeface="Segoe UI"/>
              </a:defRPr>
            </a:pPr>
            <a:r>
              <a:t>BACKEND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12079" y="283464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8FAFC"/>
                </a:solidFill>
                <a:latin typeface="Segoe UI"/>
              </a:defRPr>
            </a:pPr>
            <a:r>
              <a:t>FastAPI Server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2079" y="3474720"/>
            <a:ext cx="17373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>
                <a:solidFill>
                  <a:srgbClr val="94A3B8"/>
                </a:solidFill>
                <a:latin typeface="Segoe UI"/>
              </a:defRPr>
            </a:pPr>
            <a:r>
              <a:t>Async Processing</a:t>
            </a:r>
            <a:br/>
            <a:r>
              <a:t>REST &amp; JSON API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7086600" y="3749039"/>
            <a:ext cx="182880" cy="274320"/>
          </a:xfrm>
          <a:prstGeom prst="rightArrow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7315200" y="2194560"/>
            <a:ext cx="1920240" cy="3474720"/>
          </a:xfrm>
          <a:prstGeom prst="roundRect">
            <a:avLst/>
          </a:prstGeom>
          <a:solidFill>
            <a:srgbClr val="131C31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406640" y="2377440"/>
            <a:ext cx="1737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7C3AED"/>
                </a:solidFill>
                <a:latin typeface="Segoe UI"/>
              </a:defRPr>
            </a:pPr>
            <a:r>
              <a:t>AI ENGINE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06640" y="283464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8FAFC"/>
                </a:solidFill>
                <a:latin typeface="Segoe UI"/>
              </a:defRPr>
            </a:pPr>
            <a:r>
              <a:t>Multi-Agent LLM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06640" y="3474720"/>
            <a:ext cx="17373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>
                <a:solidFill>
                  <a:srgbClr val="94A3B8"/>
                </a:solidFill>
                <a:latin typeface="Segoe UI"/>
              </a:defRPr>
            </a:pPr>
            <a:r>
              <a:t>Prompt Pipelines</a:t>
            </a:r>
            <a:br/>
            <a:r>
              <a:t>AST Parser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9281160" y="3749039"/>
            <a:ext cx="182880" cy="274320"/>
          </a:xfrm>
          <a:prstGeom prst="rightArrow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9509760" y="2194560"/>
            <a:ext cx="1920240" cy="3474720"/>
          </a:xfrm>
          <a:prstGeom prst="roundRect">
            <a:avLst/>
          </a:prstGeom>
          <a:solidFill>
            <a:srgbClr val="131C31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601200" y="2377440"/>
            <a:ext cx="1737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34D399"/>
                </a:solidFill>
                <a:latin typeface="Segoe UI"/>
              </a:defRPr>
            </a:pPr>
            <a:r>
              <a:t>REPORTS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0" y="283464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8FAFC"/>
                </a:solidFill>
                <a:latin typeface="Segoe UI"/>
              </a:defRPr>
            </a:pPr>
            <a:r>
              <a:t>Output Engine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0" y="3474720"/>
            <a:ext cx="17373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>
                <a:solidFill>
                  <a:srgbClr val="94A3B8"/>
                </a:solidFill>
                <a:latin typeface="Segoe UI"/>
              </a:defRPr>
            </a:pPr>
            <a:r>
              <a:t>Refactored Code</a:t>
            </a:r>
            <a:br/>
            <a:r>
              <a:t>PDF / JSON Export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CodeMedic AI  |  Hackathon Submission Presentation  •  Slide 4 of 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Segoe UI"/>
              </a:defRPr>
            </a:pPr>
            <a:r>
              <a:t>EXECTION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6400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Segoe UI"/>
              </a:defRPr>
            </a:pPr>
            <a:r>
              <a:t>6-Stage Automated Code Enhancement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2344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Segoe UI"/>
              </a:defRPr>
            </a:pPr>
            <a:r>
              <a:t>From raw source code input to verified production-grade delivery.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3291840" cy="1828800"/>
          </a:xfrm>
          <a:prstGeom prst="roundRect">
            <a:avLst/>
          </a:prstGeom>
          <a:solidFill>
            <a:srgbClr val="131C31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2148840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Segoe UI"/>
              </a:defRPr>
            </a:pPr>
            <a:r>
              <a:t>STEP 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514600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8FAFC"/>
                </a:solidFill>
                <a:latin typeface="Segoe UI"/>
              </a:defRPr>
            </a:pPr>
            <a:r>
              <a:t>Paste Code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880360"/>
            <a:ext cx="30175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Input code via Monaco Editor or file upload.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2011680"/>
            <a:ext cx="3291840" cy="1828800"/>
          </a:xfrm>
          <a:prstGeom prst="roundRect">
            <a:avLst/>
          </a:prstGeom>
          <a:solidFill>
            <a:srgbClr val="131C31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434840" y="2148840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Segoe UI"/>
              </a:defRPr>
            </a:pPr>
            <a:r>
              <a:t>STEP 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4840" y="2514600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8FAFC"/>
                </a:solidFill>
                <a:latin typeface="Segoe UI"/>
              </a:defRPr>
            </a:pPr>
            <a:r>
              <a:t>AI Processing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4840" y="2880360"/>
            <a:ext cx="30175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Tokenization, AST parsing &amp; prompt dispatch.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63840" y="2011680"/>
            <a:ext cx="3291840" cy="1828800"/>
          </a:xfrm>
          <a:prstGeom prst="roundRect">
            <a:avLst/>
          </a:prstGeom>
          <a:solidFill>
            <a:srgbClr val="131C31"/>
          </a:solidFill>
          <a:ln w="1270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001000" y="2148840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87171"/>
                </a:solidFill>
                <a:latin typeface="Segoe UI"/>
              </a:defRPr>
            </a:pPr>
            <a:r>
              <a:t>STEP 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01000" y="2514600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8FAFC"/>
                </a:solidFill>
                <a:latin typeface="Segoe UI"/>
              </a:defRPr>
            </a:pPr>
            <a:r>
              <a:t>Bug Detection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01000" y="2880360"/>
            <a:ext cx="30175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Static analysis &amp; logic error detection.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114800"/>
            <a:ext cx="3291840" cy="1828800"/>
          </a:xfrm>
          <a:prstGeom prst="roundRect">
            <a:avLst/>
          </a:prstGeom>
          <a:solidFill>
            <a:srgbClr val="131C31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68680" y="4251960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59E0B"/>
                </a:solidFill>
                <a:latin typeface="Segoe UI"/>
              </a:defRPr>
            </a:pPr>
            <a:r>
              <a:t>STEP 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4617720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8FAFC"/>
                </a:solidFill>
                <a:latin typeface="Segoe UI"/>
              </a:defRPr>
            </a:pPr>
            <a:r>
              <a:t>Security Scan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4983480"/>
            <a:ext cx="30175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OWASP top 10 &amp; secret vulnerability check.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97680" y="4114800"/>
            <a:ext cx="3291840" cy="1828800"/>
          </a:xfrm>
          <a:prstGeom prst="roundRect">
            <a:avLst/>
          </a:prstGeom>
          <a:solidFill>
            <a:srgbClr val="131C31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434840" y="4251960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4D399"/>
                </a:solidFill>
                <a:latin typeface="Segoe UI"/>
              </a:defRPr>
            </a:pPr>
            <a:r>
              <a:t>STEP 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34840" y="4617720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8FAFC"/>
                </a:solidFill>
                <a:latin typeface="Segoe UI"/>
              </a:defRPr>
            </a:pPr>
            <a:r>
              <a:t>Optimization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34840" y="4983480"/>
            <a:ext cx="30175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Refactoring complexity O(N^2) to O(1).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863840" y="4114800"/>
            <a:ext cx="3291840" cy="1828800"/>
          </a:xfrm>
          <a:prstGeom prst="roundRect">
            <a:avLst/>
          </a:prstGeom>
          <a:solidFill>
            <a:srgbClr val="131C31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001000" y="4251960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7C3AED"/>
                </a:solidFill>
                <a:latin typeface="Segoe UI"/>
              </a:defRPr>
            </a:pPr>
            <a:r>
              <a:t>STEP 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01000" y="4617720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8FAFC"/>
                </a:solidFill>
                <a:latin typeface="Segoe UI"/>
              </a:defRPr>
            </a:pPr>
            <a:r>
              <a:t>Download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01000" y="4983480"/>
            <a:ext cx="30175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Export complete PDF report &amp; test suite.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CodeMedic AI  |  Hackathon Submission Presentation  •  Slide 5 of 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Segoe UI"/>
              </a:defRPr>
            </a:pPr>
            <a:r>
              <a:t>FEATURE SUITE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6400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Segoe UI"/>
              </a:defRPr>
            </a:pPr>
            <a:r>
              <a:t>8 Senior-Engineer Grade AI Capabilities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2344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Segoe UI"/>
              </a:defRPr>
            </a:pPr>
            <a:r>
              <a:t>Everything developers need to audit, optimize, explain, and test code in one dashboard.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2514600" cy="2103120"/>
          </a:xfrm>
          <a:prstGeom prst="roundRect">
            <a:avLst/>
          </a:prstGeom>
          <a:solidFill>
            <a:srgbClr val="131C31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2240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8FAFC"/>
                </a:solidFill>
                <a:latin typeface="Segoe UI"/>
              </a:defRPr>
            </a:pPr>
            <a:r>
              <a:t>🐛 AI Bug Detection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468880"/>
            <a:ext cx="22402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Segoe UI"/>
              </a:defRPr>
            </a:pPr>
            <a:r>
              <a:t>Identifies syntax, logic, and runtime exceptions with exact line-number root cause explanations.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1737360"/>
            <a:ext cx="2514600" cy="2103120"/>
          </a:xfrm>
          <a:prstGeom prst="roundRect">
            <a:avLst/>
          </a:prstGeom>
          <a:solidFill>
            <a:srgbClr val="131C31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566160" y="1874519"/>
            <a:ext cx="2240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8FAFC"/>
                </a:solidFill>
                <a:latin typeface="Segoe UI"/>
              </a:defRPr>
            </a:pPr>
            <a:r>
              <a:t>🔍 Automated Code Review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2468880"/>
            <a:ext cx="22402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Segoe UI"/>
              </a:defRPr>
            </a:pPr>
            <a:r>
              <a:t>Provides senior dev feedback on code style, design patterns, maintainability, and clean code principles.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737360"/>
            <a:ext cx="2514600" cy="2103120"/>
          </a:xfrm>
          <a:prstGeom prst="roundRect">
            <a:avLst/>
          </a:prstGeom>
          <a:solidFill>
            <a:srgbClr val="131C31"/>
          </a:solidFill>
          <a:ln w="1270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263640" y="1874519"/>
            <a:ext cx="2240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8FAFC"/>
                </a:solidFill>
                <a:latin typeface="Segoe UI"/>
              </a:defRPr>
            </a:pPr>
            <a:r>
              <a:t>🛡️ Security Vulnerability Scanner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3640" y="2468880"/>
            <a:ext cx="22402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Segoe UI"/>
              </a:defRPr>
            </a:pPr>
            <a:r>
              <a:t>Detects OWASP Top 10 risks, SQL injection, XSS, insecure dependencies, and hardcoded credentials.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823960" y="1737360"/>
            <a:ext cx="2514600" cy="2103120"/>
          </a:xfrm>
          <a:prstGeom prst="roundRect">
            <a:avLst/>
          </a:prstGeom>
          <a:solidFill>
            <a:srgbClr val="131C31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961120" y="1874519"/>
            <a:ext cx="2240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8FAFC"/>
                </a:solidFill>
                <a:latin typeface="Segoe UI"/>
              </a:defRPr>
            </a:pPr>
            <a:r>
              <a:t>🚀 Performance Optimizer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0" y="2468880"/>
            <a:ext cx="22402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Segoe UI"/>
              </a:defRPr>
            </a:pPr>
            <a:r>
              <a:t>Highlights memory leaks, redundant loops, and refactors inefficient logic into optimal O(1) structures.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3977639"/>
            <a:ext cx="2514600" cy="2103120"/>
          </a:xfrm>
          <a:prstGeom prst="roundRect">
            <a:avLst/>
          </a:prstGeom>
          <a:solidFill>
            <a:srgbClr val="131C31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68680" y="4114800"/>
            <a:ext cx="2240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8FAFC"/>
                </a:solidFill>
                <a:latin typeface="Segoe UI"/>
              </a:defRPr>
            </a:pPr>
            <a:r>
              <a:t>📊 Complexity Analysis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4709159"/>
            <a:ext cx="22402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Segoe UI"/>
              </a:defRPr>
            </a:pPr>
            <a:r>
              <a:t>Calculates Cyclomatic complexity, Big-O time/space bounds, and code maintainability index scores.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429000" y="3977639"/>
            <a:ext cx="2514600" cy="2103120"/>
          </a:xfrm>
          <a:prstGeom prst="roundRect">
            <a:avLst/>
          </a:prstGeom>
          <a:solidFill>
            <a:srgbClr val="131C31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566160" y="4114800"/>
            <a:ext cx="2240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8FAFC"/>
                </a:solidFill>
                <a:latin typeface="Segoe UI"/>
              </a:defRPr>
            </a:pPr>
            <a:r>
              <a:t>🧪 Unit Test Generator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66160" y="4709159"/>
            <a:ext cx="22402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Segoe UI"/>
              </a:defRPr>
            </a:pPr>
            <a:r>
              <a:t>Auto-generates robust, production-ready unit test suites for PyTest, Jest, and JUnit frameworks.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26480" y="3977639"/>
            <a:ext cx="2514600" cy="2103120"/>
          </a:xfrm>
          <a:prstGeom prst="roundRect">
            <a:avLst/>
          </a:prstGeom>
          <a:solidFill>
            <a:srgbClr val="131C31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263640" y="4114800"/>
            <a:ext cx="2240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8FAFC"/>
                </a:solidFill>
                <a:latin typeface="Segoe UI"/>
              </a:defRPr>
            </a:pPr>
            <a:r>
              <a:t>📖 Documentation Generator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4709159"/>
            <a:ext cx="22402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Segoe UI"/>
              </a:defRPr>
            </a:pPr>
            <a:r>
              <a:t>Produces comprehensive JSDoc, PyDoc, and Markdown README files with clear parameter definitions.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823960" y="3977639"/>
            <a:ext cx="2514600" cy="2103120"/>
          </a:xfrm>
          <a:prstGeom prst="roundRect">
            <a:avLst/>
          </a:prstGeom>
          <a:solidFill>
            <a:srgbClr val="131C31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961120" y="4114800"/>
            <a:ext cx="2240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8FAFC"/>
                </a:solidFill>
                <a:latin typeface="Segoe UI"/>
              </a:defRPr>
            </a:pPr>
            <a:r>
              <a:t>📄 Executive PDF Reports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61120" y="4709159"/>
            <a:ext cx="22402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Segoe UI"/>
              </a:defRPr>
            </a:pPr>
            <a:r>
              <a:t>Exports downloadable, client-ready code audit PDF summaries formatted for engineering managers.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CodeMedic AI  |  Hackathon Submission Presentation  •  Slide 6 of 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Segoe UI"/>
              </a:defRPr>
            </a:pPr>
            <a:r>
              <a:t>TECHNOLOGY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6400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Segoe UI"/>
              </a:defRPr>
            </a:pPr>
            <a:r>
              <a:t>Modern Tech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2344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Segoe UI"/>
              </a:defRPr>
            </a:pPr>
            <a:r>
              <a:t>Built using industry-standard enterprise frameworks for maximum performance.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1993392" cy="4114800"/>
          </a:xfrm>
          <a:prstGeom prst="roundRect">
            <a:avLst/>
          </a:prstGeom>
          <a:solidFill>
            <a:srgbClr val="131C31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2103120"/>
            <a:ext cx="181051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2563EB"/>
                </a:solidFill>
                <a:latin typeface="Segoe UI"/>
              </a:defRPr>
            </a:pPr>
            <a:r>
              <a:t>FRONTEND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651760"/>
            <a:ext cx="181051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8FAFC"/>
                </a:solidFill>
                <a:latin typeface="Segoe UI"/>
              </a:defRPr>
            </a:pPr>
            <a:r>
              <a:t>React 18  •  Vite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0" y="3474720"/>
            <a:ext cx="1444752" cy="1828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" y="3657600"/>
            <a:ext cx="1810512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94A3B8"/>
                </a:solidFill>
                <a:latin typeface="Segoe UI"/>
              </a:defRPr>
            </a:pPr>
            <a:r>
              <a:t>TypeScript  •  Tailwind CSS</a:t>
            </a:r>
            <a:br/>
            <a:r>
              <a:t>Monaco Code Editor  •  Lucide Icons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07791" y="1920240"/>
            <a:ext cx="1993392" cy="4114800"/>
          </a:xfrm>
          <a:prstGeom prst="roundRect">
            <a:avLst/>
          </a:prstGeom>
          <a:solidFill>
            <a:srgbClr val="131C31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999232" y="2103120"/>
            <a:ext cx="181051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06B6D4"/>
                </a:solidFill>
                <a:latin typeface="Segoe UI"/>
              </a:defRPr>
            </a:pPr>
            <a:r>
              <a:t>BACKEND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99232" y="2651760"/>
            <a:ext cx="181051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8FAFC"/>
                </a:solidFill>
                <a:latin typeface="Segoe UI"/>
              </a:defRPr>
            </a:pPr>
            <a:r>
              <a:t>Python 3.11  •  FastAPI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182111" y="3474720"/>
            <a:ext cx="1444752" cy="1828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999232" y="3657600"/>
            <a:ext cx="1810512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94A3B8"/>
                </a:solidFill>
                <a:latin typeface="Segoe UI"/>
              </a:defRPr>
            </a:pPr>
            <a:r>
              <a:t>Uvicorn Async  •  Pydantic V2</a:t>
            </a:r>
            <a:br/>
            <a:r>
              <a:t>REST API Gateway  •  Gunicorn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84064" y="1920240"/>
            <a:ext cx="1993392" cy="4114800"/>
          </a:xfrm>
          <a:prstGeom prst="roundRect">
            <a:avLst/>
          </a:prstGeom>
          <a:solidFill>
            <a:srgbClr val="131C31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175503" y="2103120"/>
            <a:ext cx="181051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7C3AED"/>
                </a:solidFill>
                <a:latin typeface="Segoe UI"/>
              </a:defRPr>
            </a:pPr>
            <a:r>
              <a:t>AI ENGINE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75503" y="2651760"/>
            <a:ext cx="181051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8FAFC"/>
                </a:solidFill>
                <a:latin typeface="Segoe UI"/>
              </a:defRPr>
            </a:pPr>
            <a:r>
              <a:rPr dirty="0"/>
              <a:t>Gemini Pro  •  GPT-4o</a:t>
            </a:r>
            <a:r>
              <a:rPr lang="en-US" dirty="0"/>
              <a:t> </a:t>
            </a:r>
            <a:r>
              <a:rPr lang="en-IN" dirty="0"/>
              <a:t> •  Codex</a:t>
            </a:r>
            <a:endParaRPr dirty="0"/>
          </a:p>
        </p:txBody>
      </p:sp>
      <p:sp>
        <p:nvSpPr>
          <p:cNvPr id="19" name="Rectangle 18"/>
          <p:cNvSpPr/>
          <p:nvPr/>
        </p:nvSpPr>
        <p:spPr>
          <a:xfrm>
            <a:off x="5358383" y="3474720"/>
            <a:ext cx="1444752" cy="1828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175503" y="3657600"/>
            <a:ext cx="1810512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94A3B8"/>
                </a:solidFill>
                <a:latin typeface="Segoe UI"/>
              </a:defRPr>
            </a:pPr>
            <a:r>
              <a:t>LangChain Agents  •  AST Parser</a:t>
            </a:r>
            <a:br/>
            <a:r>
              <a:t>Custom Engineering Prompts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260336" y="1920240"/>
            <a:ext cx="1993392" cy="4114800"/>
          </a:xfrm>
          <a:prstGeom prst="roundRect">
            <a:avLst/>
          </a:prstGeom>
          <a:solidFill>
            <a:srgbClr val="131C31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351775" y="2103120"/>
            <a:ext cx="181051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34D399"/>
                </a:solidFill>
                <a:latin typeface="Segoe UI"/>
              </a:defRPr>
            </a:pPr>
            <a:r>
              <a:t>DATABASE &amp; CACHE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51775" y="2651760"/>
            <a:ext cx="181051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8FAFC"/>
                </a:solidFill>
                <a:latin typeface="Segoe UI"/>
              </a:defRPr>
            </a:pPr>
            <a:r>
              <a:t>PostgreSQL  •  Redis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534656" y="3474720"/>
            <a:ext cx="1444752" cy="18288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351775" y="3657600"/>
            <a:ext cx="1810512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94A3B8"/>
                </a:solidFill>
                <a:latin typeface="Segoe UI"/>
              </a:defRPr>
            </a:pPr>
            <a:r>
              <a:t>SQLAlchemy ORM  •  Alembic</a:t>
            </a:r>
            <a:br/>
            <a:r>
              <a:t>Session Caching &amp; Vector Storage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436608" y="1920240"/>
            <a:ext cx="1993392" cy="4114800"/>
          </a:xfrm>
          <a:prstGeom prst="roundRect">
            <a:avLst/>
          </a:prstGeom>
          <a:solidFill>
            <a:srgbClr val="131C31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528048" y="2103120"/>
            <a:ext cx="181051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59E0B"/>
                </a:solidFill>
                <a:latin typeface="Segoe UI"/>
              </a:defRPr>
            </a:pPr>
            <a:r>
              <a:t>DEPLOYMENT &amp; DEVOPS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28048" y="2651760"/>
            <a:ext cx="181051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8FAFC"/>
                </a:solidFill>
                <a:latin typeface="Segoe UI"/>
              </a:defRPr>
            </a:pPr>
            <a:r>
              <a:t>Docker  •  Vercel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710928" y="3474720"/>
            <a:ext cx="1444752" cy="1828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528048" y="3657600"/>
            <a:ext cx="1810512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94A3B8"/>
                </a:solidFill>
                <a:latin typeface="Segoe UI"/>
              </a:defRPr>
            </a:pPr>
            <a:r>
              <a:t>Render Cloud  •  GitHub Actions</a:t>
            </a:r>
            <a:br/>
            <a:r>
              <a:t>CI/CD Automated Testing Pipeline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CodeMedic AI  |  Hackathon Submission Presentation  •  Slide 7 of 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Segoe UI"/>
              </a:defRPr>
            </a:pPr>
            <a:r>
              <a:t>PRODUCT EXPERIENCE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6400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Segoe UI"/>
              </a:defRPr>
            </a:pPr>
            <a:r>
              <a:t>Interactive App Dashboard &amp; Interface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2344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Segoe UI"/>
              </a:defRPr>
            </a:pPr>
            <a:r>
              <a:t>A sleek dark-mode user interface engineered for maximum developer productivity.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1993392" cy="4114800"/>
          </a:xfrm>
          <a:prstGeom prst="roundRect">
            <a:avLst/>
          </a:prstGeom>
          <a:solidFill>
            <a:srgbClr val="131C31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920240"/>
            <a:ext cx="1993392" cy="365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868680" y="2011680"/>
            <a:ext cx="109728" cy="109728"/>
          </a:xfrm>
          <a:prstGeom prst="ellipse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2468880"/>
            <a:ext cx="181051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8FAFC"/>
                </a:solidFill>
                <a:latin typeface="Segoe UI"/>
              </a:defRPr>
            </a:pPr>
            <a:r>
              <a:t>1. Landing Page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200400"/>
            <a:ext cx="1810512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>
                <a:solidFill>
                  <a:srgbClr val="94A3B8"/>
                </a:solidFill>
                <a:latin typeface="Segoe UI"/>
              </a:defRPr>
            </a:pPr>
            <a:r>
              <a:t>Modern hero layout with code drop zone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5029200"/>
            <a:ext cx="1627632" cy="7315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>
                <a:solidFill>
                  <a:srgbClr val="38BDF8"/>
                </a:solidFill>
                <a:latin typeface="Segoe UI"/>
              </a:defRPr>
            </a:pPr>
            <a:r>
              <a:t>[ Screenshot Placeholder ]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07791" y="1920240"/>
            <a:ext cx="1993392" cy="4114800"/>
          </a:xfrm>
          <a:prstGeom prst="roundRect">
            <a:avLst/>
          </a:prstGeom>
          <a:solidFill>
            <a:srgbClr val="131C31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907791" y="1920240"/>
            <a:ext cx="1993392" cy="365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3044951" y="2011680"/>
            <a:ext cx="109728" cy="109728"/>
          </a:xfrm>
          <a:prstGeom prst="ellipse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999232" y="2468880"/>
            <a:ext cx="181051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8FAFC"/>
                </a:solidFill>
                <a:latin typeface="Segoe UI"/>
              </a:defRPr>
            </a:pPr>
            <a:r>
              <a:t>2. Monaco Editor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99232" y="3200400"/>
            <a:ext cx="1810512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>
                <a:solidFill>
                  <a:srgbClr val="94A3B8"/>
                </a:solidFill>
                <a:latin typeface="Segoe UI"/>
              </a:defRPr>
            </a:pPr>
            <a:r>
              <a:t>Live syntax highlighting &amp; diagnostic squigglies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090672" y="5029200"/>
            <a:ext cx="1627632" cy="7315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>
                <a:solidFill>
                  <a:srgbClr val="38BDF8"/>
                </a:solidFill>
                <a:latin typeface="Segoe UI"/>
              </a:defRPr>
            </a:pPr>
            <a:r>
              <a:t>[ Screenshot Placeholder ]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84064" y="1920240"/>
            <a:ext cx="1993392" cy="4114800"/>
          </a:xfrm>
          <a:prstGeom prst="roundRect">
            <a:avLst/>
          </a:prstGeom>
          <a:solidFill>
            <a:srgbClr val="131C31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084064" y="1920240"/>
            <a:ext cx="1993392" cy="365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5221224" y="2011680"/>
            <a:ext cx="109728" cy="109728"/>
          </a:xfrm>
          <a:prstGeom prst="ellipse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175503" y="2468880"/>
            <a:ext cx="181051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8FAFC"/>
                </a:solidFill>
                <a:latin typeface="Segoe UI"/>
              </a:defRPr>
            </a:pPr>
            <a:r>
              <a:t>3. AI Dashboard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75503" y="3200400"/>
            <a:ext cx="1810512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>
                <a:solidFill>
                  <a:srgbClr val="94A3B8"/>
                </a:solidFill>
                <a:latin typeface="Segoe UI"/>
              </a:defRPr>
            </a:pPr>
            <a:r>
              <a:t>Real-time health score gauge &amp; metric cards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266944" y="5029200"/>
            <a:ext cx="1627632" cy="7315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>
                <a:solidFill>
                  <a:srgbClr val="38BDF8"/>
                </a:solidFill>
                <a:latin typeface="Segoe UI"/>
              </a:defRPr>
            </a:pPr>
            <a:r>
              <a:t>[ Screenshot Placeholder ]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260336" y="1920240"/>
            <a:ext cx="1993392" cy="4114800"/>
          </a:xfrm>
          <a:prstGeom prst="roundRect">
            <a:avLst/>
          </a:prstGeom>
          <a:solidFill>
            <a:srgbClr val="131C31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7260336" y="1920240"/>
            <a:ext cx="1993392" cy="365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7397496" y="2011680"/>
            <a:ext cx="109728" cy="109728"/>
          </a:xfrm>
          <a:prstGeom prst="ellipse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351775" y="2468880"/>
            <a:ext cx="181051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8FAFC"/>
                </a:solidFill>
                <a:latin typeface="Segoe UI"/>
              </a:defRPr>
            </a:pPr>
            <a:r>
              <a:t>4. Analysis Hub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51775" y="3200400"/>
            <a:ext cx="1810512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>
                <a:solidFill>
                  <a:srgbClr val="94A3B8"/>
                </a:solidFill>
                <a:latin typeface="Segoe UI"/>
              </a:defRPr>
            </a:pPr>
            <a:r>
              <a:t>Categorized bugs, security &amp; complexity tab views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443215" y="5029200"/>
            <a:ext cx="1627632" cy="7315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>
                <a:solidFill>
                  <a:srgbClr val="38BDF8"/>
                </a:solidFill>
                <a:latin typeface="Segoe UI"/>
              </a:defRPr>
            </a:pPr>
            <a:r>
              <a:t>[ Screenshot Placeholder ]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436608" y="1920240"/>
            <a:ext cx="1993392" cy="4114800"/>
          </a:xfrm>
          <a:prstGeom prst="roundRect">
            <a:avLst/>
          </a:prstGeom>
          <a:solidFill>
            <a:srgbClr val="131C31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9436608" y="1920240"/>
            <a:ext cx="1993392" cy="365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9573768" y="2011680"/>
            <a:ext cx="109728" cy="109728"/>
          </a:xfrm>
          <a:prstGeom prst="ellipse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528048" y="2468880"/>
            <a:ext cx="181051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8FAFC"/>
                </a:solidFill>
                <a:latin typeface="Segoe UI"/>
              </a:defRPr>
            </a:pPr>
            <a:r>
              <a:t>5. PDF Report Modal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528048" y="3200400"/>
            <a:ext cx="1810512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>
                <a:solidFill>
                  <a:srgbClr val="94A3B8"/>
                </a:solidFill>
                <a:latin typeface="Segoe UI"/>
              </a:defRPr>
            </a:pPr>
            <a:r>
              <a:t>One-click audit export with formatted summaries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619488" y="5029200"/>
            <a:ext cx="1627632" cy="7315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>
                <a:solidFill>
                  <a:srgbClr val="38BDF8"/>
                </a:solidFill>
                <a:latin typeface="Segoe UI"/>
              </a:defRPr>
            </a:pPr>
            <a:r>
              <a:t>[ Screenshot Placeholder ]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CodeMedic AI  |  Hackathon Submission Presentation  •  Slide 8 of 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Segoe UI"/>
              </a:defRPr>
            </a:pPr>
            <a:r>
              <a:t>AI ANALYSIS IN ACTION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6400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Segoe UI"/>
              </a:defRPr>
            </a:pPr>
            <a:r>
              <a:t>Side-by-Side Code Refactoring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2344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Segoe UI"/>
              </a:defRPr>
            </a:pPr>
            <a:r>
              <a:t>Watch CodeMedic AI instantly repair security vulnerabilities and optimize complexity.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5120640" cy="4206240"/>
          </a:xfrm>
          <a:prstGeom prst="roundRect">
            <a:avLst/>
          </a:prstGeom>
          <a:solidFill>
            <a:srgbClr val="131C31"/>
          </a:solidFill>
          <a:ln w="1270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87171"/>
                </a:solidFill>
                <a:latin typeface="Segoe UI"/>
              </a:defRPr>
            </a:pPr>
            <a:r>
              <a:t>❌ ORIGINAL CODE (Vulnerable &amp; Unoptimized O(N^2))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defRPr sz="950">
                <a:solidFill>
                  <a:srgbClr val="F8FAFC"/>
                </a:solidFill>
                <a:latin typeface="Consolas"/>
              </a:defRPr>
            </a:pPr>
            <a:r>
              <a:t>def get_user_records(user_id):</a:t>
            </a:r>
          </a:p>
          <a:p>
            <a:pPr>
              <a:defRPr sz="950">
                <a:solidFill>
                  <a:srgbClr val="F87171"/>
                </a:solidFill>
                <a:latin typeface="Consolas"/>
              </a:defRPr>
            </a:pPr>
            <a:r>
              <a:t>    # CRITICAL: SQL Injection vulnerability</a:t>
            </a:r>
          </a:p>
          <a:p>
            <a:pPr>
              <a:defRPr sz="950">
                <a:solidFill>
                  <a:srgbClr val="F87171"/>
                </a:solidFill>
                <a:latin typeface="Consolas"/>
              </a:defRPr>
            </a:pPr>
            <a:r>
              <a:t>    query = 'SELECT * FROM users WHERE id=' + user_id</a:t>
            </a:r>
          </a:p>
          <a:p>
            <a:pPr>
              <a:defRPr sz="950">
                <a:solidFill>
                  <a:srgbClr val="F8FAFC"/>
                </a:solidFill>
                <a:latin typeface="Consolas"/>
              </a:defRPr>
            </a:pPr>
            <a:r>
              <a:t>    res = db.execute(query)</a:t>
            </a:r>
          </a:p>
          <a:p>
            <a:pPr>
              <a:defRPr sz="950">
                <a:solidFill>
                  <a:srgbClr val="F8FAFC"/>
                </a:solidFill>
                <a:latin typeface="Consolas"/>
              </a:defRPr>
            </a:pPr>
            <a:r>
              <a:t>    </a:t>
            </a:r>
          </a:p>
          <a:p>
            <a:pPr>
              <a:defRPr sz="950">
                <a:solidFill>
                  <a:srgbClr val="F59E0B"/>
                </a:solidFill>
                <a:latin typeface="Consolas"/>
              </a:defRPr>
            </a:pPr>
            <a:r>
              <a:t>    # CRITICAL: O(N^2) inefficient nested loop</a:t>
            </a:r>
          </a:p>
          <a:p>
            <a:pPr>
              <a:defRPr sz="950">
                <a:solidFill>
                  <a:srgbClr val="F59E0B"/>
                </a:solidFill>
                <a:latin typeface="Consolas"/>
              </a:defRPr>
            </a:pPr>
            <a:r>
              <a:t>    for i in range(len(res)):</a:t>
            </a:r>
          </a:p>
          <a:p>
            <a:pPr>
              <a:defRPr sz="950">
                <a:solidFill>
                  <a:srgbClr val="F59E0B"/>
                </a:solidFill>
                <a:latin typeface="Consolas"/>
              </a:defRPr>
            </a:pPr>
            <a:r>
              <a:t>        for j in range(len(res)):</a:t>
            </a:r>
          </a:p>
          <a:p>
            <a:pPr>
              <a:defRPr sz="950">
                <a:solidFill>
                  <a:srgbClr val="F59E0B"/>
                </a:solidFill>
                <a:latin typeface="Consolas"/>
              </a:defRPr>
            </a:pPr>
            <a:r>
              <a:t>            process_meta(res[i], res[j])</a:t>
            </a:r>
          </a:p>
          <a:p>
            <a:pPr>
              <a:defRPr sz="950">
                <a:solidFill>
                  <a:srgbClr val="F8FAFC"/>
                </a:solidFill>
                <a:latin typeface="Consolas"/>
              </a:defRPr>
            </a:pPr>
            <a:r>
              <a:t>    return res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828800"/>
            <a:ext cx="5242255" cy="4206240"/>
          </a:xfrm>
          <a:prstGeom prst="roundRect">
            <a:avLst/>
          </a:prstGeom>
          <a:solidFill>
            <a:srgbClr val="131C31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0" y="2011680"/>
            <a:ext cx="48764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34D399"/>
                </a:solidFill>
                <a:latin typeface="Segoe UI"/>
              </a:defRPr>
            </a:pPr>
            <a:r>
              <a:t>✅ CODEMEDIC AI OUTPUT (Secure &amp; Optimized O(1))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77440"/>
            <a:ext cx="4876495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defRPr sz="950">
                <a:solidFill>
                  <a:srgbClr val="38BDF8"/>
                </a:solidFill>
                <a:latin typeface="Consolas"/>
              </a:defRPr>
            </a:pPr>
            <a:r>
              <a:t>@dataclass</a:t>
            </a:r>
          </a:p>
          <a:p>
            <a:pPr>
              <a:defRPr sz="950">
                <a:solidFill>
                  <a:srgbClr val="F8FAFC"/>
                </a:solidFill>
                <a:latin typeface="Consolas"/>
              </a:defRPr>
            </a:pPr>
            <a:r>
              <a:t>class UserDTO:</a:t>
            </a:r>
          </a:p>
          <a:p>
            <a:pPr>
              <a:defRPr sz="950">
                <a:solidFill>
                  <a:srgbClr val="94A3B8"/>
                </a:solidFill>
                <a:latin typeface="Consolas"/>
              </a:defRPr>
            </a:pPr>
            <a:r>
              <a:t>    id: str; name: str</a:t>
            </a:r>
          </a:p>
          <a:p>
            <a:pPr>
              <a:defRPr sz="950">
                <a:solidFill>
                  <a:srgbClr val="F8FAFC"/>
                </a:solidFill>
                <a:latin typeface="Consolas"/>
              </a:defRPr>
            </a:pPr>
            <a:endParaRPr/>
          </a:p>
          <a:p>
            <a:pPr>
              <a:defRPr sz="950">
                <a:solidFill>
                  <a:srgbClr val="34D399"/>
                </a:solidFill>
                <a:latin typeface="Consolas"/>
              </a:defRPr>
            </a:pPr>
            <a:r>
              <a:t>async def get_user_records(user_id: str) -&gt; Optional[UserDTO]:</a:t>
            </a:r>
          </a:p>
          <a:p>
            <a:pPr>
              <a:defRPr sz="950">
                <a:solidFill>
                  <a:srgbClr val="64748B"/>
                </a:solidFill>
                <a:latin typeface="Consolas"/>
              </a:defRPr>
            </a:pPr>
            <a:r>
              <a:t>    '''Parametrized SQL query preventing injection + O(1) batch.'''</a:t>
            </a:r>
          </a:p>
          <a:p>
            <a:pPr>
              <a:defRPr sz="950">
                <a:solidFill>
                  <a:srgbClr val="34D399"/>
                </a:solidFill>
                <a:latin typeface="Consolas"/>
              </a:defRPr>
            </a:pPr>
            <a:r>
              <a:t>    stmt = text('SELECT id, name FROM users WHERE id = :id')</a:t>
            </a:r>
          </a:p>
          <a:p>
            <a:pPr>
              <a:defRPr sz="950">
                <a:solidFill>
                  <a:srgbClr val="34D399"/>
                </a:solidFill>
                <a:latin typeface="Consolas"/>
              </a:defRPr>
            </a:pPr>
            <a:r>
              <a:t>    res = await db.execute(stmt, {'id': user_id})</a:t>
            </a:r>
          </a:p>
          <a:p>
            <a:pPr>
              <a:defRPr sz="950">
                <a:solidFill>
                  <a:srgbClr val="34D399"/>
                </a:solidFill>
                <a:latin typeface="Consolas"/>
              </a:defRPr>
            </a:pPr>
            <a:r>
              <a:t>    batch_process_meta(res) # Refactored to single pass</a:t>
            </a:r>
          </a:p>
          <a:p>
            <a:pPr>
              <a:defRPr sz="950">
                <a:solidFill>
                  <a:srgbClr val="34D399"/>
                </a:solidFill>
                <a:latin typeface="Consolas"/>
              </a:defRPr>
            </a:pPr>
            <a:r>
              <a:t>    return UserDTO(**res.first())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CodeMedic AI  |  Hackathon Submission Presentation  •  Slide 9 of 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Segoe UI"/>
              </a:defRPr>
            </a:pPr>
            <a:r>
              <a:t>WHY CODEMEDIC AI?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6400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Segoe UI"/>
              </a:defRPr>
            </a:pPr>
            <a:r>
              <a:t>Competitive Advantage &amp; USP Comparison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2344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Segoe UI"/>
              </a:defRPr>
            </a:pPr>
            <a:r>
              <a:t>How CodeMedic AI outperforms traditional linters and generic chat assistants.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728655" cy="4297680"/>
          </a:xfrm>
          <a:prstGeom prst="roundRect">
            <a:avLst/>
          </a:prstGeom>
          <a:solidFill>
            <a:srgbClr val="131C31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6838092"/>
              </p:ext>
            </p:extLst>
          </p:nvPr>
        </p:nvGraphicFramePr>
        <p:xfrm>
          <a:off x="1061884" y="2103121"/>
          <a:ext cx="10146889" cy="372740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632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278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278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2788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32486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FEATURE / CAPABILITY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TRADITIONAL LINTERS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GENERIC CHATBOTS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6B6D4"/>
                          </a:solidFill>
                          <a:latin typeface="Segoe UI"/>
                        </a:defRPr>
                      </a:pPr>
                      <a:r>
                        <a:t>CODEMEDIC AI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2486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Deep Context Security Analysis</a:t>
                      </a:r>
                    </a:p>
                  </a:txBody>
                  <a:tcPr>
                    <a:solidFill>
                      <a:srgbClr val="131C3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F87171"/>
                          </a:solidFill>
                          <a:latin typeface="Segoe UI"/>
                        </a:defRPr>
                      </a:pPr>
                      <a:r>
                        <a:t>❌ Basic Regex Only</a:t>
                      </a:r>
                    </a:p>
                  </a:txBody>
                  <a:tcPr>
                    <a:solidFill>
                      <a:srgbClr val="131C3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F59E0B"/>
                          </a:solidFill>
                          <a:latin typeface="Segoe UI"/>
                        </a:defRPr>
                      </a:pPr>
                      <a:r>
                        <a:t>⚠️ General Advice</a:t>
                      </a:r>
                    </a:p>
                  </a:txBody>
                  <a:tcPr>
                    <a:solidFill>
                      <a:srgbClr val="131C3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34D399"/>
                          </a:solidFill>
                          <a:latin typeface="Segoe UI"/>
                        </a:defRPr>
                      </a:pPr>
                      <a:r>
                        <a:t>✅ Deep OWASP &amp; Secret Scan</a:t>
                      </a:r>
                    </a:p>
                  </a:txBody>
                  <a:tcPr>
                    <a:solidFill>
                      <a:srgbClr val="131C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2486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Complexity &amp; Big-O Refactoring</a:t>
                      </a:r>
                    </a:p>
                  </a:txBody>
                  <a:tcPr>
                    <a:solidFill>
                      <a:srgbClr val="131C3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F87171"/>
                          </a:solidFill>
                          <a:latin typeface="Segoe UI"/>
                        </a:defRPr>
                      </a:pPr>
                      <a:r>
                        <a:t>❌ No Support</a:t>
                      </a:r>
                    </a:p>
                  </a:txBody>
                  <a:tcPr>
                    <a:solidFill>
                      <a:srgbClr val="131C3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F59E0B"/>
                          </a:solidFill>
                          <a:latin typeface="Segoe UI"/>
                        </a:defRPr>
                      </a:pPr>
                      <a:r>
                        <a:t>⚠️ Manual Prompting</a:t>
                      </a:r>
                    </a:p>
                  </a:txBody>
                  <a:tcPr>
                    <a:solidFill>
                      <a:srgbClr val="131C3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34D399"/>
                          </a:solidFill>
                          <a:latin typeface="Segoe UI"/>
                        </a:defRPr>
                      </a:pPr>
                      <a:r>
                        <a:t>✅ Automated O(N^2) to O(1) Fix</a:t>
                      </a:r>
                    </a:p>
                  </a:txBody>
                  <a:tcPr>
                    <a:solidFill>
                      <a:srgbClr val="131C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2486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Automated Unit Test Suite Gen</a:t>
                      </a:r>
                    </a:p>
                  </a:txBody>
                  <a:tcPr>
                    <a:solidFill>
                      <a:srgbClr val="131C3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F87171"/>
                          </a:solidFill>
                          <a:latin typeface="Segoe UI"/>
                        </a:defRPr>
                      </a:pPr>
                      <a:r>
                        <a:t>❌ No Support</a:t>
                      </a:r>
                    </a:p>
                  </a:txBody>
                  <a:tcPr>
                    <a:solidFill>
                      <a:srgbClr val="131C3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F59E0B"/>
                          </a:solidFill>
                          <a:latin typeface="Segoe UI"/>
                        </a:defRPr>
                      </a:pPr>
                      <a:r>
                        <a:t>⚠️ Fragmented Snippets</a:t>
                      </a:r>
                    </a:p>
                  </a:txBody>
                  <a:tcPr>
                    <a:solidFill>
                      <a:srgbClr val="131C3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34D399"/>
                          </a:solidFill>
                          <a:latin typeface="Segoe UI"/>
                        </a:defRPr>
                      </a:pPr>
                      <a:r>
                        <a:t>✅ Complete PyTest / Jest Suites</a:t>
                      </a:r>
                    </a:p>
                  </a:txBody>
                  <a:tcPr>
                    <a:solidFill>
                      <a:srgbClr val="131C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2486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Executive PDF Report Export</a:t>
                      </a:r>
                    </a:p>
                  </a:txBody>
                  <a:tcPr>
                    <a:solidFill>
                      <a:srgbClr val="131C3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F87171"/>
                          </a:solidFill>
                          <a:latin typeface="Segoe UI"/>
                        </a:defRPr>
                      </a:pPr>
                      <a:r>
                        <a:t>❌ Raw Logs Only</a:t>
                      </a:r>
                    </a:p>
                  </a:txBody>
                  <a:tcPr>
                    <a:solidFill>
                      <a:srgbClr val="131C3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F87171"/>
                          </a:solidFill>
                          <a:latin typeface="Segoe UI"/>
                        </a:defRPr>
                      </a:pPr>
                      <a:r>
                        <a:t>❌ No Support</a:t>
                      </a:r>
                    </a:p>
                  </a:txBody>
                  <a:tcPr>
                    <a:solidFill>
                      <a:srgbClr val="131C3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34D399"/>
                          </a:solidFill>
                          <a:latin typeface="Segoe UI"/>
                        </a:defRPr>
                      </a:pPr>
                      <a:r>
                        <a:t>✅ 1-Click Formatted Audit PDF</a:t>
                      </a:r>
                    </a:p>
                  </a:txBody>
                  <a:tcPr>
                    <a:solidFill>
                      <a:srgbClr val="131C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2486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Monaco Code Editor Experience</a:t>
                      </a:r>
                    </a:p>
                  </a:txBody>
                  <a:tcPr>
                    <a:solidFill>
                      <a:srgbClr val="131C3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F87171"/>
                          </a:solidFill>
                          <a:latin typeface="Segoe UI"/>
                        </a:defRPr>
                      </a:pPr>
                      <a:r>
                        <a:t>❌ IDE Plugin Only</a:t>
                      </a:r>
                    </a:p>
                  </a:txBody>
                  <a:tcPr>
                    <a:solidFill>
                      <a:srgbClr val="131C3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F87171"/>
                          </a:solidFill>
                          <a:latin typeface="Segoe UI"/>
                        </a:defRPr>
                      </a:pPr>
                      <a:r>
                        <a:t>❌ Simple Textarea</a:t>
                      </a:r>
                    </a:p>
                  </a:txBody>
                  <a:tcPr>
                    <a:solidFill>
                      <a:srgbClr val="131C3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34D399"/>
                          </a:solidFill>
                          <a:latin typeface="Segoe UI"/>
                        </a:defRPr>
                      </a:pPr>
                      <a:r>
                        <a:t>✅ Fully Interactive Monaco UI</a:t>
                      </a:r>
                    </a:p>
                  </a:txBody>
                  <a:tcPr>
                    <a:solidFill>
                      <a:srgbClr val="131C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2491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Senior Developer Explanation</a:t>
                      </a:r>
                    </a:p>
                  </a:txBody>
                  <a:tcPr>
                    <a:solidFill>
                      <a:srgbClr val="131C3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F87171"/>
                          </a:solidFill>
                          <a:latin typeface="Segoe UI"/>
                        </a:defRPr>
                      </a:pPr>
                      <a:r>
                        <a:t>❌ Rule Codes Only</a:t>
                      </a:r>
                    </a:p>
                  </a:txBody>
                  <a:tcPr>
                    <a:solidFill>
                      <a:srgbClr val="131C3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F59E0B"/>
                          </a:solidFill>
                          <a:latin typeface="Segoe UI"/>
                        </a:defRPr>
                      </a:pPr>
                      <a:r>
                        <a:t>⚠️ Generic Summaries</a:t>
                      </a:r>
                    </a:p>
                  </a:txBody>
                  <a:tcPr>
                    <a:solidFill>
                      <a:srgbClr val="131C3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34D399"/>
                          </a:solidFill>
                          <a:latin typeface="Segoe UI"/>
                        </a:defRPr>
                      </a:pPr>
                      <a:r>
                        <a:rPr dirty="0"/>
                        <a:t>✅ Step-by-Step Educational Insights</a:t>
                      </a:r>
                    </a:p>
                  </a:txBody>
                  <a:tcPr>
                    <a:solidFill>
                      <a:srgbClr val="131C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CodeMedic AI  |  Hackathon Submission Presentation  •  Slide 10 of 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Segoe UI"/>
              </a:defRPr>
            </a:pPr>
            <a:r>
              <a:t>REAL-WORLD IMPACT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6400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Segoe UI"/>
              </a:defRPr>
            </a:pPr>
            <a:r>
              <a:t>Empowering Software Teams &amp; Developers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2344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Segoe UI"/>
              </a:defRPr>
            </a:pPr>
            <a:r>
              <a:t>Measurable value delivered across the entire engineering lifecycle.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5120640" cy="2011680"/>
          </a:xfrm>
          <a:prstGeom prst="roundRect">
            <a:avLst/>
          </a:prstGeom>
          <a:solidFill>
            <a:srgbClr val="131C31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4754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Segoe UI"/>
              </a:defRPr>
            </a:pPr>
            <a:r>
              <a:t>👨‍💻 INDIVIDUAL DEVELOPERS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754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8FAFC"/>
                </a:solidFill>
                <a:latin typeface="Segoe UI"/>
              </a:defRPr>
            </a:pPr>
            <a:r>
              <a:t>Save 5+ Hours Weekly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834640"/>
            <a:ext cx="47548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Eliminate repetitive debugging, get instant bug fixes, and write production-grade code faster.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828800"/>
            <a:ext cx="5120640" cy="2011680"/>
          </a:xfrm>
          <a:prstGeom prst="roundRect">
            <a:avLst/>
          </a:prstGeom>
          <a:solidFill>
            <a:srgbClr val="131C31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0" y="1965960"/>
            <a:ext cx="4754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Segoe UI"/>
              </a:defRPr>
            </a:pPr>
            <a:r>
              <a:t>🎓 CS STUDENTS &amp; LEARNERS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331720"/>
            <a:ext cx="4754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8FAFC"/>
                </a:solidFill>
                <a:latin typeface="Segoe UI"/>
              </a:defRPr>
            </a:pPr>
            <a:r>
              <a:t>Master Senior Best Practices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834640"/>
            <a:ext cx="47548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Learn software architecture, security patterns, and Big-O optimization through detailed AI explanations.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023360"/>
            <a:ext cx="5120640" cy="2011680"/>
          </a:xfrm>
          <a:prstGeom prst="roundRect">
            <a:avLst/>
          </a:prstGeom>
          <a:solidFill>
            <a:srgbClr val="131C31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14400" y="4160520"/>
            <a:ext cx="4754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4D399"/>
                </a:solidFill>
                <a:latin typeface="Segoe UI"/>
              </a:defRPr>
            </a:pPr>
            <a:r>
              <a:t>🚀 ENGINEERING TEAMS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526280"/>
            <a:ext cx="4754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8FAFC"/>
                </a:solidFill>
                <a:latin typeface="Segoe UI"/>
              </a:defRPr>
            </a:pPr>
            <a:r>
              <a:t>Accelerate PR Reviews by 60%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029200"/>
            <a:ext cx="47548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Remove code review bottlenecks, enforce consistent code standards, and ship features faster.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4023360"/>
            <a:ext cx="5120640" cy="2011680"/>
          </a:xfrm>
          <a:prstGeom prst="roundRect">
            <a:avLst/>
          </a:prstGeom>
          <a:solidFill>
            <a:srgbClr val="131C31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00800" y="4160520"/>
            <a:ext cx="4754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7C3AED"/>
                </a:solidFill>
                <a:latin typeface="Segoe UI"/>
              </a:defRPr>
            </a:pPr>
            <a:r>
              <a:t>🏢 ENTERPRISES &amp; OPEN SOURCE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4526280"/>
            <a:ext cx="4754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8FAFC"/>
                </a:solidFill>
                <a:latin typeface="Segoe UI"/>
              </a:defRPr>
            </a:pPr>
            <a:r>
              <a:t>Zero Security Compromise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5029200"/>
            <a:ext cx="47548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Prevent zero-day vulnerabilities, maintain updated documentation, and reduce technical debt.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CodeMedic AI  |  Hackathon Submission Presentation  •  Slide 11 of 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Segoe UI"/>
              </a:defRPr>
            </a:pPr>
            <a:r>
              <a:t>FUTURE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6400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Segoe UI"/>
              </a:defRPr>
            </a:pPr>
            <a:r>
              <a:t>Product Evolution &amp; 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2344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Segoe UI"/>
              </a:defRPr>
            </a:pPr>
            <a:r>
              <a:t>Expanding from an interactive dashboard to complete developer ecosystem integration.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3291840" cy="2011680"/>
          </a:xfrm>
          <a:prstGeom prst="roundRect">
            <a:avLst/>
          </a:prstGeom>
          <a:solidFill>
            <a:srgbClr val="131C31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965960"/>
            <a:ext cx="3017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563EB"/>
                </a:solidFill>
                <a:latin typeface="Segoe UI"/>
              </a:defRPr>
            </a:pPr>
            <a:r>
              <a:t>PHASE 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286000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8FAFC"/>
                </a:solidFill>
                <a:latin typeface="Segoe UI"/>
              </a:defRPr>
            </a:pPr>
            <a:r>
              <a:t>VS Code Extension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834640"/>
            <a:ext cx="30175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94A3B8"/>
                </a:solidFill>
                <a:latin typeface="Segoe UI"/>
              </a:defRPr>
            </a:pPr>
            <a:r>
              <a:t>Native IDE extension with squiggly error highlights and 1-click refactoring.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1828800"/>
            <a:ext cx="3291840" cy="2011680"/>
          </a:xfrm>
          <a:prstGeom prst="roundRect">
            <a:avLst/>
          </a:prstGeom>
          <a:solidFill>
            <a:srgbClr val="131C31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434840" y="1965960"/>
            <a:ext cx="3017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38BDF8"/>
                </a:solidFill>
                <a:latin typeface="Segoe UI"/>
              </a:defRPr>
            </a:pPr>
            <a:r>
              <a:t>PHASE 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4840" y="2286000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8FAFC"/>
                </a:solidFill>
                <a:latin typeface="Segoe UI"/>
              </a:defRPr>
            </a:pPr>
            <a:r>
              <a:t>GitHub CI/CD Integration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4840" y="2834640"/>
            <a:ext cx="30175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94A3B8"/>
                </a:solidFill>
                <a:latin typeface="Segoe UI"/>
              </a:defRPr>
            </a:pPr>
            <a:r>
              <a:t>Automated Pull Request scanner blocking vulnerable code merges.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63840" y="1828800"/>
            <a:ext cx="3291840" cy="2011680"/>
          </a:xfrm>
          <a:prstGeom prst="roundRect">
            <a:avLst/>
          </a:prstGeom>
          <a:solidFill>
            <a:srgbClr val="131C31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001000" y="1965960"/>
            <a:ext cx="3017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06B6D4"/>
                </a:solidFill>
                <a:latin typeface="Segoe UI"/>
              </a:defRPr>
            </a:pPr>
            <a:r>
              <a:t>PHASE 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01000" y="2286000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8FAFC"/>
                </a:solidFill>
                <a:latin typeface="Segoe UI"/>
              </a:defRPr>
            </a:pPr>
            <a:r>
              <a:t>Multi-File Analysis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01000" y="2834640"/>
            <a:ext cx="30175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94A3B8"/>
                </a:solidFill>
                <a:latin typeface="Segoe UI"/>
              </a:defRPr>
            </a:pPr>
            <a:r>
              <a:t>Cross-file dependency graph analysis and whole-repo refactoring.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023360"/>
            <a:ext cx="3291840" cy="2011680"/>
          </a:xfrm>
          <a:prstGeom prst="roundRect">
            <a:avLst/>
          </a:prstGeom>
          <a:solidFill>
            <a:srgbClr val="131C31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68680" y="4160520"/>
            <a:ext cx="3017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7C3AED"/>
                </a:solidFill>
                <a:latin typeface="Segoe UI"/>
              </a:defRPr>
            </a:pPr>
            <a:r>
              <a:t>PHASE 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4480560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8FAFC"/>
                </a:solidFill>
                <a:latin typeface="Segoe UI"/>
              </a:defRPr>
            </a:pPr>
            <a:r>
              <a:t>Team Collaboration Memory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5029200"/>
            <a:ext cx="30175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94A3B8"/>
                </a:solidFill>
                <a:latin typeface="Segoe UI"/>
              </a:defRPr>
            </a:pPr>
            <a:r>
              <a:t>Shared team coding standards, guidelines, and snippet memory.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97680" y="4023360"/>
            <a:ext cx="3291840" cy="2011680"/>
          </a:xfrm>
          <a:prstGeom prst="roundRect">
            <a:avLst/>
          </a:prstGeom>
          <a:solidFill>
            <a:srgbClr val="131C31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434840" y="4160520"/>
            <a:ext cx="3017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F59E0B"/>
                </a:solidFill>
                <a:latin typeface="Segoe UI"/>
              </a:defRPr>
            </a:pPr>
            <a:r>
              <a:t>PHASE 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34840" y="4480560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8FAFC"/>
                </a:solidFill>
                <a:latin typeface="Segoe UI"/>
              </a:defRPr>
            </a:pPr>
            <a:r>
              <a:t>Enterprise API Platform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34840" y="5029200"/>
            <a:ext cx="30175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94A3B8"/>
                </a:solidFill>
                <a:latin typeface="Segoe UI"/>
              </a:defRPr>
            </a:pPr>
            <a:r>
              <a:t>REST API &amp; self-hosted on-prem LLM deployment for security compliance.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863840" y="4023360"/>
            <a:ext cx="3291840" cy="2011680"/>
          </a:xfrm>
          <a:prstGeom prst="roundRect">
            <a:avLst/>
          </a:prstGeom>
          <a:solidFill>
            <a:srgbClr val="131C31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001000" y="4160520"/>
            <a:ext cx="3017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34D399"/>
                </a:solidFill>
                <a:latin typeface="Segoe UI"/>
              </a:defRPr>
            </a:pPr>
            <a:r>
              <a:t>PHASE 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01000" y="4480560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8FAFC"/>
                </a:solidFill>
                <a:latin typeface="Segoe UI"/>
              </a:defRPr>
            </a:pPr>
            <a:r>
              <a:t>Custom Fine-Tuned Models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01000" y="5029200"/>
            <a:ext cx="30175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94A3B8"/>
                </a:solidFill>
                <a:latin typeface="Segoe UI"/>
              </a:defRPr>
            </a:pPr>
            <a:r>
              <a:t>Domain-specific AI models trained on proprietary codebase styles.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CodeMedic AI  |  Hackathon Submission Presentation  •  Slide 12 of 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Segoe UI"/>
              </a:defRPr>
            </a:pPr>
            <a:r>
              <a:t>PRESENTATION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6400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Segoe UI"/>
              </a:defRPr>
            </a:pPr>
            <a:r>
              <a:t>Live Stage Demonstration Sequence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2344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Segoe UI"/>
              </a:defRPr>
            </a:pPr>
            <a:r>
              <a:t>Follow along as we present CodeMedic AI live in action.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5120640" cy="1234440"/>
          </a:xfrm>
          <a:prstGeom prst="roundRect">
            <a:avLst/>
          </a:prstGeom>
          <a:solidFill>
            <a:srgbClr val="131C31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563EB"/>
                </a:solidFill>
                <a:latin typeface="Segoe UI"/>
              </a:defRPr>
            </a:pPr>
            <a:r>
              <a:t>Step 1: Open Web App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754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8FAFC"/>
                </a:solidFill>
                <a:latin typeface="Segoe UI"/>
              </a:defRPr>
            </a:pPr>
            <a:r>
              <a:t>Launch CodeMedic AI Web Dashboard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828800"/>
            <a:ext cx="5120640" cy="1234440"/>
          </a:xfrm>
          <a:prstGeom prst="roundRect">
            <a:avLst/>
          </a:prstGeom>
          <a:solidFill>
            <a:srgbClr val="131C31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0" y="1965960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6B6D4"/>
                </a:solidFill>
                <a:latin typeface="Segoe UI"/>
              </a:defRPr>
            </a:pPr>
            <a:r>
              <a:t>Step 2: Input Vulnerable Code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754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8FAFC"/>
                </a:solidFill>
                <a:latin typeface="Segoe UI"/>
              </a:defRPr>
            </a:pPr>
            <a:r>
              <a:t>Paste SQLi O(N^2) code snippet into Monaco Editor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246120"/>
            <a:ext cx="5120640" cy="1234440"/>
          </a:xfrm>
          <a:prstGeom prst="roundRect">
            <a:avLst/>
          </a:prstGeom>
          <a:solidFill>
            <a:srgbClr val="131C31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14400" y="3383279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7C3AED"/>
                </a:solidFill>
                <a:latin typeface="Segoe UI"/>
              </a:defRPr>
            </a:pPr>
            <a:r>
              <a:t>Step 3: Trigger AI Analysis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749039"/>
            <a:ext cx="4754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8FAFC"/>
                </a:solidFill>
                <a:latin typeface="Segoe UI"/>
              </a:defRPr>
            </a:pPr>
            <a:r>
              <a:t>Click 'Analyze Code' button to activate multi-agent scan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3246120"/>
            <a:ext cx="5120640" cy="1234440"/>
          </a:xfrm>
          <a:prstGeom prst="roundRect">
            <a:avLst/>
          </a:prstGeom>
          <a:solidFill>
            <a:srgbClr val="131C31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0800" y="3383279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4D399"/>
                </a:solidFill>
                <a:latin typeface="Segoe UI"/>
              </a:defRPr>
            </a:pPr>
            <a:r>
              <a:t>Step 4: Review Security &amp; Fixes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3749039"/>
            <a:ext cx="4754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8FAFC"/>
                </a:solidFill>
                <a:latin typeface="Segoe UI"/>
              </a:defRPr>
            </a:pPr>
            <a:r>
              <a:t>Inspect detected vulnerabilities &amp; O(1) refactored code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663440"/>
            <a:ext cx="5120640" cy="1234440"/>
          </a:xfrm>
          <a:prstGeom prst="roundRect">
            <a:avLst/>
          </a:prstGeom>
          <a:solidFill>
            <a:srgbClr val="131C31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14400" y="4800600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8BDF8"/>
                </a:solidFill>
                <a:latin typeface="Segoe UI"/>
              </a:defRPr>
            </a:pPr>
            <a:r>
              <a:t>Step 5: Inspect Generated Tests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166359"/>
            <a:ext cx="4754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8FAFC"/>
                </a:solidFill>
                <a:latin typeface="Segoe UI"/>
              </a:defRPr>
            </a:pPr>
            <a:r>
              <a:t>View auto-generated PyTest unit test suite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4663440"/>
            <a:ext cx="5120640" cy="1234440"/>
          </a:xfrm>
          <a:prstGeom prst="roundRect">
            <a:avLst/>
          </a:prstGeom>
          <a:solidFill>
            <a:srgbClr val="131C31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00800" y="4800600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59E0B"/>
                </a:solidFill>
                <a:latin typeface="Segoe UI"/>
              </a:defRPr>
            </a:pPr>
            <a:r>
              <a:t>Step 6: Download PDF Report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5166359"/>
            <a:ext cx="4754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8FAFC"/>
                </a:solidFill>
                <a:latin typeface="Segoe UI"/>
              </a:defRPr>
            </a:pPr>
            <a:r>
              <a:t>Click 'Export Audit' to download formatted executive PDF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CodeMedic AI  |  Hackathon Submission Presentation  •  Slide 13 of 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31520" y="914400"/>
            <a:ext cx="6858000" cy="5029200"/>
          </a:xfrm>
          <a:prstGeom prst="roundRect">
            <a:avLst/>
          </a:prstGeom>
          <a:solidFill>
            <a:srgbClr val="131C31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05840" y="1280160"/>
            <a:ext cx="6400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8FAFC"/>
                </a:solidFill>
                <a:latin typeface="Segoe UI"/>
              </a:defRPr>
            </a:pPr>
            <a:r>
              <a:t>CodeMedic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2194560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38BDF8"/>
                </a:solidFill>
                <a:latin typeface="Segoe UI"/>
              </a:defRPr>
            </a:pPr>
            <a:r>
              <a:t>Fix. Explain. Optimize. Powered by AI.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743200"/>
            <a:ext cx="6217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Segoe UI"/>
              </a:defRPr>
            </a:pPr>
            <a:r>
              <a:t>Thank you for reviewing CodeMedic AI! Together, let's elevate software engineering quality, security, and developer speed with AI co-pilots.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840480"/>
            <a:ext cx="6217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6B6D4"/>
                </a:solidFill>
                <a:latin typeface="Segoe UI"/>
              </a:defRPr>
            </a:pPr>
            <a:r>
              <a:t>📂 GitHub Repository:  github.com/username/codemedic-ai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4297680"/>
            <a:ext cx="6217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34D399"/>
                </a:solidFill>
                <a:latin typeface="Segoe UI"/>
              </a:defRPr>
            </a:pPr>
            <a:r>
              <a:t>🌐 Live Interactive Demo:  codemedic-ai.vercel.app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4754880"/>
            <a:ext cx="6217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7C3AED"/>
                </a:solidFill>
                <a:latin typeface="Segoe UI"/>
              </a:defRPr>
            </a:pPr>
            <a:r>
              <a:t>📧 Team Contact:  team@codemedic.ai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0" y="914400"/>
            <a:ext cx="3596335" cy="5029200"/>
          </a:xfrm>
          <a:prstGeom prst="roundRect">
            <a:avLst/>
          </a:prstGeom>
          <a:solidFill>
            <a:srgbClr val="131C31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321040" y="1463040"/>
            <a:ext cx="2681935" cy="2681935"/>
          </a:xfrm>
          <a:prstGeom prst="rect">
            <a:avLst/>
          </a:prstGeom>
          <a:solidFill>
            <a:srgbClr val="0F172A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94A3B8"/>
                </a:solidFill>
                <a:latin typeface="Segoe UI"/>
              </a:defRPr>
            </a:pPr>
            <a:r>
              <a:t>[ QR CODE PLACEHOLDER ]</a:t>
            </a:r>
            <a:br/>
            <a:br/>
            <a:r>
              <a:t>Scan to Access</a:t>
            </a:r>
            <a:br/>
            <a:r>
              <a:t>Live Demo &amp; Docs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0" y="4389120"/>
            <a:ext cx="323057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8FAFC"/>
                </a:solidFill>
                <a:latin typeface="Segoe UI"/>
              </a:defRPr>
            </a:pPr>
            <a:r>
              <a:t>Q &amp; A SESSION</a:t>
            </a:r>
            <a:br/>
            <a:r>
              <a:t>We welcome questions from the judges and audience!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CodeMedic AI  |  Hackathon Submission Presentation  •  Slide 14 of 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1857</Words>
  <Application>Microsoft Office PowerPoint</Application>
  <PresentationFormat>Widescreen</PresentationFormat>
  <Paragraphs>279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Umer Khan</cp:lastModifiedBy>
  <cp:revision>3</cp:revision>
  <dcterms:created xsi:type="dcterms:W3CDTF">2013-01-27T09:14:16Z</dcterms:created>
  <dcterms:modified xsi:type="dcterms:W3CDTF">2026-07-31T22:19:16Z</dcterms:modified>
  <cp:category/>
</cp:coreProperties>
</file>